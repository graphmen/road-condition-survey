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554480" cy="1443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228600"/>
            <a:ext cx="97200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FFEE"/>
                </a:solidFill>
                <a:latin typeface="Calibri"/>
              </a:rPr>
              <a:t>ZIMBABWE NATIONAL GEOSPATIAL AND SPACE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658368"/>
            <a:ext cx="9720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DDBB"/>
                </a:solidFill>
                <a:latin typeface="Calibri"/>
              </a:rPr>
              <a:t>In Partnership with: Ministry of Transport &amp; Infrastructural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960120"/>
            <a:ext cx="9720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DDBB"/>
                </a:solidFill>
                <a:latin typeface="Calibri"/>
              </a:rPr>
              <a:t>Department of Roads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45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ROAD CONDITION
SURVEY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12745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8A200"/>
                </a:solidFill>
                <a:latin typeface="Calibri"/>
              </a:rPr>
              <a:t>TRAINING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FFEE"/>
                </a:solidFill>
                <a:latin typeface="Calibri"/>
              </a:rPr>
              <a:t>Mobile Application  &amp;  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DDBB"/>
                </a:solidFill>
                <a:latin typeface="Calibri"/>
              </a:rPr>
              <a:t>Field Telemetry System v2.0  |  Survey Year 2026  |  Highways: A1 - A2 - A3 - A4 - A5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DDBB"/>
                </a:solidFill>
                <a:latin typeface="Calibri"/>
              </a:rPr>
              <a:t>July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INTERNAL USE ONLY  -  Zimbabwe National Geospatial and Space Agency (ZINGSA)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TRAINING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What we will cover in today's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07008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07008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252728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System Overview - Purpose, architecture, and what the system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207008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0196" y="1207008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3116" y="1252728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Mobile App - Installation, navigation, and creating surveys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74520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187452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920240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Asset Categories - 18 types of road assets you will 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0196" y="1874520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0196" y="1874520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1920240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Survey Workflow - Step-by-step field data collection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542032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54203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87752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GPS Capture &amp; Photo Attachment - Best practices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0196" y="2542032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0196" y="2542032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3116" y="2587752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Offline Mode - Saving drafts and managing the 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09544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320954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55264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Synchronisation - Uploading to the central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0196" y="3209544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0196" y="3209544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3116" y="3255264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Web Dashboard - Map, analytics, database, and 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877056"/>
            <a:ext cx="457200" cy="530352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877056"/>
            <a:ext cx="457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22776"/>
            <a:ext cx="50703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Best Practices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What is the Road Condition Survey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20090"/>
            <a:ext cx="71854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333333"/>
                </a:solidFill>
                <a:latin typeface="Calibri"/>
              </a:rPr>
              <a:t>ZINGSA, in partnership with MOTID, has deployed the Road Condition Survey System - a national field telemetry platform for capturing, storing, and </a:t>
            </a:r>
            <a:r>
              <a:rPr sz="2200" b="0" i="0" dirty="0" err="1">
                <a:solidFill>
                  <a:srgbClr val="333333"/>
                </a:solidFill>
                <a:latin typeface="Calibri"/>
              </a:rPr>
              <a:t>analysing</a:t>
            </a:r>
            <a:r>
              <a:rPr sz="2200" b="0" i="0" dirty="0">
                <a:solidFill>
                  <a:srgbClr val="333333"/>
                </a:solidFill>
                <a:latin typeface="Calibri"/>
              </a:rPr>
              <a:t> road infrastructure condition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84409"/>
            <a:ext cx="8257032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dirty="0">
                <a:solidFill>
                  <a:srgbClr val="333333"/>
                </a:solidFill>
                <a:latin typeface="Calibri"/>
              </a:rPr>
              <a:t>  ▶  Covers 18 types of road assets: roads, bridges, drainage, traffic assets, and amenities</a:t>
            </a:r>
          </a:p>
          <a:p>
            <a:pPr>
              <a:spcBef>
                <a:spcPts val="500"/>
              </a:spcBef>
            </a:pPr>
            <a:r>
              <a:rPr dirty="0">
                <a:solidFill>
                  <a:srgbClr val="333333"/>
                </a:solidFill>
                <a:latin typeface="Calibri"/>
              </a:rPr>
              <a:t>  ▶  Field surveyors use an Android mobile app - works fully OFFLINE in remote areas</a:t>
            </a:r>
          </a:p>
          <a:p>
            <a:pPr>
              <a:spcBef>
                <a:spcPts val="500"/>
              </a:spcBef>
            </a:pPr>
            <a:r>
              <a:rPr dirty="0">
                <a:solidFill>
                  <a:srgbClr val="333333"/>
                </a:solidFill>
                <a:latin typeface="Calibri"/>
              </a:rPr>
              <a:t>  ▶  Data syncs to a central server and </a:t>
            </a:r>
            <a:r>
              <a:rPr dirty="0" err="1">
                <a:solidFill>
                  <a:srgbClr val="333333"/>
                </a:solidFill>
                <a:latin typeface="Calibri"/>
              </a:rPr>
              <a:t>visualised</a:t>
            </a:r>
            <a:r>
              <a:rPr dirty="0">
                <a:solidFill>
                  <a:srgbClr val="333333"/>
                </a:solidFill>
                <a:latin typeface="Calibri"/>
              </a:rPr>
              <a:t> on an interactive web dashboard map</a:t>
            </a:r>
          </a:p>
          <a:p>
            <a:pPr>
              <a:spcBef>
                <a:spcPts val="500"/>
              </a:spcBef>
            </a:pPr>
            <a:r>
              <a:rPr dirty="0">
                <a:solidFill>
                  <a:srgbClr val="333333"/>
                </a:solidFill>
                <a:latin typeface="Calibri"/>
              </a:rPr>
              <a:t>  ▶  Highways surveyed: A1, A2, A3, A4, A5 and provincial roads throughout Zimbabwe</a:t>
            </a:r>
          </a:p>
          <a:p>
            <a:pPr>
              <a:spcBef>
                <a:spcPts val="500"/>
              </a:spcBef>
            </a:pPr>
            <a:r>
              <a:t>  ▶  Integrated with Central Database for robust data management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3658" b="2112"/>
          <a:stretch>
            <a:fillRect/>
          </a:stretch>
        </p:blipFill>
        <p:spPr>
          <a:xfrm>
            <a:off x="9404329" y="1099959"/>
            <a:ext cx="2418736" cy="46549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5793068"/>
            <a:ext cx="11457432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6036269"/>
            <a:ext cx="11128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0D2B5E"/>
                </a:solidFill>
                <a:latin typeface="Calibri"/>
              </a:rPr>
              <a:t>GOAL: Build a comprehensive, up-to-date inventory of road asset conditions to support maintenance planning, budget allocation, and infrastructure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How the three components work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3017520" cy="173736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MOBILE APP
(Android)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21408"/>
            <a:ext cx="3017520" cy="173736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212848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BACKEND API
(Python)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121408"/>
            <a:ext cx="3017520" cy="17373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212848"/>
            <a:ext cx="3017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WEB DASHBOARD
(Next.js)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52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E"/>
                </a:solidFill>
                <a:latin typeface="Calibri"/>
              </a:rPr>
              <a:t>==&gt;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852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2B5E"/>
                </a:solidFill>
                <a:latin typeface="Calibri"/>
              </a:rPr>
              <a:t>==&gt;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41648"/>
            <a:ext cx="30175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2834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333333"/>
                </a:solidFill>
                <a:latin typeface="Calibri"/>
              </a:rPr>
              <a:t>Collect data offline
GPS + photo capture
Draft queue management
Batch sync to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041648"/>
            <a:ext cx="30175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411480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Receive submissions
Cache </a:t>
            </a:r>
            <a:r>
              <a:rPr b="1" i="0" dirty="0" err="1">
                <a:solidFill>
                  <a:srgbClr val="333333"/>
                </a:solidFill>
                <a:latin typeface="Calibri"/>
              </a:rPr>
              <a:t>Central Database</a:t>
            </a:r>
            <a:r>
              <a:rPr b="1" i="0" dirty="0">
                <a:solidFill>
                  <a:srgbClr val="333333"/>
                </a:solidFill>
                <a:latin typeface="Calibri"/>
              </a:rPr>
              <a:t> data
REST API services
Swagger docs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041648"/>
            <a:ext cx="301752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2834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Interactive map view
Analytics modules
Data export tools
Live data refresh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227" y="-7315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MOBILE APP -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 dirty="0">
                <a:solidFill>
                  <a:srgbClr val="AADDCC"/>
                </a:solidFill>
                <a:latin typeface="Calibri"/>
              </a:rPr>
              <a:t>Getting the app onto your Android 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8234" y="6458974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 dirty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9B774E-1962-41C6-0FC6-B597F0150A51}"/>
              </a:ext>
            </a:extLst>
          </p:cNvPr>
          <p:cNvGrpSpPr/>
          <p:nvPr/>
        </p:nvGrpSpPr>
        <p:grpSpPr>
          <a:xfrm>
            <a:off x="266180" y="1322463"/>
            <a:ext cx="9127044" cy="731520"/>
            <a:chOff x="292259" y="1207008"/>
            <a:chExt cx="9127044" cy="731520"/>
          </a:xfrm>
        </p:grpSpPr>
        <p:sp>
          <p:nvSpPr>
            <p:cNvPr id="9" name="Rectangle 8"/>
            <p:cNvSpPr/>
            <p:nvPr/>
          </p:nvSpPr>
          <p:spPr>
            <a:xfrm>
              <a:off x="365760" y="1207008"/>
              <a:ext cx="1051560" cy="7315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2259" y="1442442"/>
              <a:ext cx="10515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STEP 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63040" y="1207008"/>
              <a:ext cx="7956263" cy="73152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72768" y="1252728"/>
              <a:ext cx="34747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 dirty="0">
                  <a:solidFill>
                    <a:srgbClr val="0D2B5E"/>
                  </a:solidFill>
                  <a:latin typeface="Calibri"/>
                </a:rPr>
                <a:t>Obtain</a:t>
              </a:r>
              <a:r>
                <a:rPr sz="1400" b="1" i="0" dirty="0">
                  <a:solidFill>
                    <a:srgbClr val="0D2B5E"/>
                  </a:solidFill>
                  <a:latin typeface="Calibri"/>
                </a:rPr>
                <a:t> the APK File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72768" y="1581912"/>
              <a:ext cx="59710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Get </a:t>
              </a:r>
              <a:r>
                <a:rPr sz="1600" b="1" i="0" dirty="0" err="1">
                  <a:solidFill>
                    <a:srgbClr val="333333"/>
                  </a:solidFill>
                  <a:latin typeface="Calibri"/>
                </a:rPr>
                <a:t>roads.apk</a:t>
              </a:r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 from your supervisor - no internet required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B3C3E1F-CD31-6550-070F-BF5B3E2F65DC}"/>
              </a:ext>
            </a:extLst>
          </p:cNvPr>
          <p:cNvGrpSpPr/>
          <p:nvPr/>
        </p:nvGrpSpPr>
        <p:grpSpPr>
          <a:xfrm>
            <a:off x="314861" y="2361414"/>
            <a:ext cx="9087476" cy="731520"/>
            <a:chOff x="331827" y="2066544"/>
            <a:chExt cx="9087476" cy="731520"/>
          </a:xfrm>
        </p:grpSpPr>
        <p:sp>
          <p:nvSpPr>
            <p:cNvPr id="14" name="Rectangle 13"/>
            <p:cNvSpPr/>
            <p:nvPr/>
          </p:nvSpPr>
          <p:spPr>
            <a:xfrm>
              <a:off x="365760" y="2066544"/>
              <a:ext cx="1051560" cy="7315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1827" y="2371639"/>
              <a:ext cx="10515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STEP 2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463040" y="2066544"/>
              <a:ext cx="7956263" cy="73152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72768" y="2112264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0D2B5E"/>
                  </a:solidFill>
                  <a:latin typeface="Calibri"/>
                </a:rPr>
                <a:t>Enable Unknown Sources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72768" y="2441448"/>
              <a:ext cx="59710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Settings &gt; Security &gt; Enable 'Install from Unknown Sources'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742BF2E-D4AF-0B5A-C020-AAC6D4293DEF}"/>
              </a:ext>
            </a:extLst>
          </p:cNvPr>
          <p:cNvGrpSpPr/>
          <p:nvPr/>
        </p:nvGrpSpPr>
        <p:grpSpPr>
          <a:xfrm>
            <a:off x="314861" y="3454761"/>
            <a:ext cx="9087476" cy="733978"/>
            <a:chOff x="331827" y="2923622"/>
            <a:chExt cx="9087476" cy="733978"/>
          </a:xfrm>
        </p:grpSpPr>
        <p:sp>
          <p:nvSpPr>
            <p:cNvPr id="19" name="Rectangle 18"/>
            <p:cNvSpPr/>
            <p:nvPr/>
          </p:nvSpPr>
          <p:spPr>
            <a:xfrm>
              <a:off x="365760" y="2926080"/>
              <a:ext cx="1051560" cy="7315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1827" y="3151042"/>
              <a:ext cx="10515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STEP 3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463040" y="2923622"/>
              <a:ext cx="7956263" cy="73152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572768" y="2971800"/>
              <a:ext cx="347472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0D2B5E"/>
                  </a:solidFill>
                  <a:latin typeface="Calibri"/>
                </a:rPr>
                <a:t>Install the APK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72768" y="3300984"/>
              <a:ext cx="59710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Open the APK file using your file manager app and tap Install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458D8B-B898-0456-EC68-DB28B0CD9513}"/>
              </a:ext>
            </a:extLst>
          </p:cNvPr>
          <p:cNvGrpSpPr/>
          <p:nvPr/>
        </p:nvGrpSpPr>
        <p:grpSpPr>
          <a:xfrm>
            <a:off x="331827" y="4514285"/>
            <a:ext cx="9053543" cy="731520"/>
            <a:chOff x="365760" y="3785616"/>
            <a:chExt cx="9053543" cy="731520"/>
          </a:xfrm>
        </p:grpSpPr>
        <p:sp>
          <p:nvSpPr>
            <p:cNvPr id="24" name="Rectangle 23"/>
            <p:cNvSpPr/>
            <p:nvPr/>
          </p:nvSpPr>
          <p:spPr>
            <a:xfrm>
              <a:off x="365760" y="3785616"/>
              <a:ext cx="1051560" cy="7315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5760" y="3998779"/>
              <a:ext cx="10515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STEP 4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463040" y="3785616"/>
              <a:ext cx="7956263" cy="73152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72768" y="3831336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0D2B5E"/>
                  </a:solidFill>
                  <a:latin typeface="Calibri"/>
                </a:rPr>
                <a:t>Grant Permissions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572768" y="4160520"/>
              <a:ext cx="59710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Allow Camera, GPS/Location, and Storage when prompted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9A9AC3C-85AC-0FAC-55A4-ED0A0F4E38DB}"/>
              </a:ext>
            </a:extLst>
          </p:cNvPr>
          <p:cNvGrpSpPr/>
          <p:nvPr/>
        </p:nvGrpSpPr>
        <p:grpSpPr>
          <a:xfrm>
            <a:off x="331827" y="5605272"/>
            <a:ext cx="9053543" cy="731520"/>
            <a:chOff x="365760" y="4645152"/>
            <a:chExt cx="9053543" cy="731520"/>
          </a:xfrm>
        </p:grpSpPr>
        <p:sp>
          <p:nvSpPr>
            <p:cNvPr id="29" name="Rectangle 28"/>
            <p:cNvSpPr/>
            <p:nvPr/>
          </p:nvSpPr>
          <p:spPr>
            <a:xfrm>
              <a:off x="365760" y="4645152"/>
              <a:ext cx="1051560" cy="7315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1480" y="4898726"/>
              <a:ext cx="10515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STEP 5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463040" y="4645152"/>
              <a:ext cx="7956263" cy="731520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572768" y="4690872"/>
              <a:ext cx="347472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0D2B5E"/>
                  </a:solidFill>
                  <a:latin typeface="Calibri"/>
                </a:rPr>
                <a:t>First Launch &amp; Setup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572768" y="5020056"/>
              <a:ext cx="59710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333333"/>
                  </a:solidFill>
                  <a:latin typeface="Calibri"/>
                </a:rPr>
                <a:t>Open settings tab, enter Surveyor Name and Server URL</a:t>
              </a:r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rcRect t="4602" b="2069"/>
          <a:stretch>
            <a:fillRect/>
          </a:stretch>
        </p:blipFill>
        <p:spPr>
          <a:xfrm>
            <a:off x="9583970" y="1097280"/>
            <a:ext cx="2604855" cy="53276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MOBILE APP -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Understanding the four main tabs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064258" cy="658368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206425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2064258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8"/>
            <a:ext cx="1881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Welcome screen
System status indicator
Online / Offline badge
Quick start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1458" y="1207008"/>
            <a:ext cx="2064258" cy="658368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21458" y="1207008"/>
            <a:ext cx="206425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NEW SURVEY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1458" y="1901952"/>
            <a:ext cx="2064258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12898" y="2029968"/>
            <a:ext cx="1881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18 asset categories
</a:t>
            </a:r>
            <a:r>
              <a:rPr b="1" i="0" dirty="0" err="1">
                <a:solidFill>
                  <a:srgbClr val="333333"/>
                </a:solidFill>
                <a:latin typeface="Calibri"/>
              </a:rPr>
              <a:t>Colour</a:t>
            </a:r>
            <a:r>
              <a:rPr b="1" i="0" dirty="0">
                <a:solidFill>
                  <a:srgbClr val="333333"/>
                </a:solidFill>
                <a:latin typeface="Calibri"/>
              </a:rPr>
              <a:t>-coded grid
Tap to open survey form
Auto-fills surveyor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7156" y="1207008"/>
            <a:ext cx="206425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7156" y="1207008"/>
            <a:ext cx="206425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7156" y="1901952"/>
            <a:ext cx="2064258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8596" y="2029968"/>
            <a:ext cx="1881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Drafts (editable locally)
Queued (ready to sync)
Sync All button
Upload progress bar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2854" y="1207008"/>
            <a:ext cx="2064258" cy="65836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2854" y="1207008"/>
            <a:ext cx="206425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2854" y="1901952"/>
            <a:ext cx="2064258" cy="3566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4294" y="2029968"/>
            <a:ext cx="1881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Calibri"/>
              </a:rPr>
              <a:t>Server URL
Default surveyor name
GPS accuracy limit
Test Connection button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rcRect t="2320" b="-1225"/>
          <a:stretch>
            <a:fillRect/>
          </a:stretch>
        </p:blipFill>
        <p:spPr>
          <a:xfrm>
            <a:off x="9352219" y="1127338"/>
            <a:ext cx="2470846" cy="5364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ASSET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18 road asset types across 5 groups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1633118" cy="5303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261872"/>
            <a:ext cx="1541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73936"/>
            <a:ext cx="1633118" cy="38221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" y="186537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93852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6633"/>
                </a:solidFill>
                <a:latin typeface="Calibri"/>
              </a:rPr>
              <a:t>Sealed Roads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245973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53288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6633"/>
                </a:solidFill>
                <a:latin typeface="Calibri"/>
              </a:rPr>
              <a:t>Gravel Roads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05409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12724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6633"/>
                </a:solidFill>
                <a:latin typeface="Calibri"/>
              </a:rPr>
              <a:t>Earth Roads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90318" y="1207008"/>
            <a:ext cx="1633118" cy="530352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36038" y="1261872"/>
            <a:ext cx="1541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STRUCTURES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0318" y="1773936"/>
            <a:ext cx="1633118" cy="38221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63470" y="186537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00046" y="193852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A200"/>
                </a:solidFill>
                <a:latin typeface="Calibri"/>
              </a:rPr>
              <a:t>Bridges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3470" y="245973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00046" y="253288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A200"/>
                </a:solidFill>
                <a:latin typeface="Calibri"/>
              </a:rPr>
              <a:t>Footbridges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3470" y="305409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00046" y="312724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A200"/>
                </a:solidFill>
                <a:latin typeface="Calibri"/>
              </a:rPr>
              <a:t>Rail Crossings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3470" y="364845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00046" y="372160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A200"/>
                </a:solidFill>
                <a:latin typeface="Calibri"/>
              </a:rPr>
              <a:t>Tollgates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4876" y="1207008"/>
            <a:ext cx="1633118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60596" y="1261872"/>
            <a:ext cx="1541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AMENITIES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4876" y="1773936"/>
            <a:ext cx="1633118" cy="38221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88028" y="186537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24604" y="193852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3AED"/>
                </a:solidFill>
                <a:latin typeface="Calibri"/>
              </a:rPr>
              <a:t>Lay-bys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88028" y="245973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24604" y="253288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3AED"/>
                </a:solidFill>
                <a:latin typeface="Calibri"/>
              </a:rPr>
              <a:t>Bus Stops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8028" y="305409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24604" y="312724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3AED"/>
                </a:solidFill>
                <a:latin typeface="Calibri"/>
              </a:rPr>
              <a:t>Junctions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88028" y="364845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24604" y="372160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C3AED"/>
                </a:solidFill>
                <a:latin typeface="Calibri"/>
              </a:rPr>
              <a:t>Road Signs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9434" y="1207008"/>
            <a:ext cx="1633118" cy="530352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5154" y="1261872"/>
            <a:ext cx="1541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DRAINAGE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9434" y="1773936"/>
            <a:ext cx="1633118" cy="38221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12586" y="186537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49162" y="193852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89"/>
                </a:solidFill>
                <a:latin typeface="Calibri"/>
              </a:rPr>
              <a:t>Shelvets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12586" y="245973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49162" y="253288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89"/>
                </a:solidFill>
                <a:latin typeface="Calibri"/>
              </a:rPr>
              <a:t>Culverts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12586" y="305409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49162" y="312724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89"/>
                </a:solidFill>
                <a:latin typeface="Calibri"/>
              </a:rPr>
              <a:t>Piped Causeways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12586" y="364845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49162" y="372160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89"/>
                </a:solidFill>
                <a:latin typeface="Calibri"/>
              </a:rPr>
              <a:t>Drifts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12586" y="424281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49162" y="431596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D4E89"/>
                </a:solidFill>
                <a:latin typeface="Calibri"/>
              </a:rPr>
              <a:t>Grids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3992" y="1207008"/>
            <a:ext cx="1633118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09712" y="1261872"/>
            <a:ext cx="154167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TRAFFIC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3992" y="1773936"/>
            <a:ext cx="1633118" cy="382219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337144" y="186537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73720" y="193852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580C"/>
                </a:solidFill>
                <a:latin typeface="Calibri"/>
              </a:rPr>
              <a:t>Traffic Lights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37144" y="2459736"/>
            <a:ext cx="1486814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73720" y="2532888"/>
            <a:ext cx="141366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A580C"/>
                </a:solidFill>
                <a:latin typeface="Calibri"/>
              </a:rPr>
              <a:t>Streetlights</a:t>
            </a: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/>
          <a:srcRect t="2988" b="2050"/>
          <a:stretch>
            <a:fillRect/>
          </a:stretch>
        </p:blipFill>
        <p:spPr>
          <a:xfrm>
            <a:off x="9378133" y="1188719"/>
            <a:ext cx="2548397" cy="52578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SURVEY WORKFLOW - ROADS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Key fields when surveying sealed &amp; gravel roads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D88DB55-C7C4-111D-1491-2987C4851192}"/>
              </a:ext>
            </a:extLst>
          </p:cNvPr>
          <p:cNvGrpSpPr/>
          <p:nvPr/>
        </p:nvGrpSpPr>
        <p:grpSpPr>
          <a:xfrm>
            <a:off x="91440" y="1170432"/>
            <a:ext cx="9398882" cy="5146766"/>
            <a:chOff x="91440" y="2249524"/>
            <a:chExt cx="8348472" cy="321868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4D7AFC6-FFB3-7A21-B80B-41F87D9A8A90}"/>
                </a:ext>
              </a:extLst>
            </p:cNvPr>
            <p:cNvGrpSpPr/>
            <p:nvPr/>
          </p:nvGrpSpPr>
          <p:grpSpPr>
            <a:xfrm>
              <a:off x="91440" y="2249524"/>
              <a:ext cx="8257032" cy="3218688"/>
              <a:chOff x="365760" y="1207008"/>
              <a:chExt cx="8257032" cy="3218688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65760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118104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870448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65760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118104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870448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65760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118104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870448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65760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118104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870448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65760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118104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870448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65760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118104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870448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65760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3118104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5870448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365760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3118104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870448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A10FEE5-40AE-3FF9-1806-4636F6C8AC82}"/>
                </a:ext>
              </a:extLst>
            </p:cNvPr>
            <p:cNvGrpSpPr/>
            <p:nvPr/>
          </p:nvGrpSpPr>
          <p:grpSpPr>
            <a:xfrm>
              <a:off x="292608" y="2304388"/>
              <a:ext cx="8147304" cy="3163824"/>
              <a:chOff x="420624" y="1243584"/>
              <a:chExt cx="8147304" cy="3163824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420624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Field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172968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What to Assess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925312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Condition Options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9768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Narrow Cracks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182112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Hairline crack coverage of road surface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934456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 Cracks / &lt;5% / 5-15% / &gt;15%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429768" y="204825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Wide Cracks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182112" y="204825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Alligator/wide crack coverage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5934456" y="204825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 Cracks / &lt;5% / 5-15% / &gt;15%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29768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Potholes/Patches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182112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Pothole density &amp; patching quality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934456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Good / Fair / Poor / Very Poor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9768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Rutting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182112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Wheel track deformation depth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34456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None / &lt;5mm / 5-20mm / &gt;20mm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9768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Edge Breaks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3182112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Pavement edge deterioration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934456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None / &lt;50mm / 50-100mm / &gt;100mm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429768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Riding Quality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3182112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Overall vehicle ride experience</a:t>
                </a: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934456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Good / Fair / Poor / Very Poor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429768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 err="1">
                    <a:solidFill>
                      <a:srgbClr val="333333"/>
                    </a:solidFill>
                    <a:latin typeface="Calibri"/>
                  </a:rPr>
                  <a:t>Passability</a:t>
                </a:r>
                <a:endParaRPr sz="1100" b="0" i="0" dirty="0">
                  <a:solidFill>
                    <a:srgbClr val="333333"/>
                  </a:solidFill>
                  <a:latin typeface="Calibri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3182112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When is the road passable?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934456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All Year / Wet Restricted / Dry Only</a:t>
                </a:r>
              </a:p>
            </p:txBody>
          </p:sp>
        </p:grpSp>
      </p:grp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rcRect t="4076" b="2027"/>
          <a:stretch>
            <a:fillRect/>
          </a:stretch>
        </p:blipFill>
        <p:spPr>
          <a:xfrm>
            <a:off x="9490578" y="1188720"/>
            <a:ext cx="2622764" cy="5128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7011" y="-914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SURVEY WORKFLOW - BRIDGES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Assessing bridges, footbridges, rail crossings &amp; tollgates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pic>
        <p:nvPicPr>
          <p:cNvPr id="57" name="Picture 56" descr="mobile_form_brid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90" y="1645920"/>
            <a:ext cx="6181703" cy="3922776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0938414A-E5AF-3725-AD0E-4F1FEBCB2B85}"/>
              </a:ext>
            </a:extLst>
          </p:cNvPr>
          <p:cNvGrpSpPr/>
          <p:nvPr/>
        </p:nvGrpSpPr>
        <p:grpSpPr>
          <a:xfrm>
            <a:off x="31335" y="1645920"/>
            <a:ext cx="5791344" cy="3922776"/>
            <a:chOff x="13716" y="1115568"/>
            <a:chExt cx="5568696" cy="4032504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91F32915-47CB-741E-868E-8EF4E1722BC6}"/>
                </a:ext>
              </a:extLst>
            </p:cNvPr>
            <p:cNvGrpSpPr/>
            <p:nvPr/>
          </p:nvGrpSpPr>
          <p:grpSpPr>
            <a:xfrm>
              <a:off x="13716" y="1115568"/>
              <a:ext cx="5568696" cy="4032504"/>
              <a:chOff x="365760" y="1207008"/>
              <a:chExt cx="8257032" cy="3218688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365760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420624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Calibri"/>
                  </a:rPr>
                  <a:t>Structural Element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118104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172968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Calibri"/>
                  </a:rPr>
                  <a:t>What to Inspect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870448" y="1207008"/>
                <a:ext cx="2752344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925312" y="1243584"/>
                <a:ext cx="2642616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Calibri"/>
                  </a:rPr>
                  <a:t>Typical Conditions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65760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429768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Expansion Joints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118104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182112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 dirty="0">
                    <a:solidFill>
                      <a:srgbClr val="333333"/>
                    </a:solidFill>
                    <a:latin typeface="Calibri"/>
                  </a:rPr>
                  <a:t>Gaps between deck sections for movement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870448" y="1609344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934456" y="164592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Good / Fair / Poor / Absent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65760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429768" y="204825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Bearings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118104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182112" y="204825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Load-transfer devices between deck &amp; piers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870448" y="2011680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65760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29768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Parapets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118104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3182112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Safety railings along bridge sides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5870448" y="2414016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5934456" y="2450592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Undamaged / Minor / Major / Missing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65760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9768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Chemical Effect</a:t>
                </a: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3118104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182112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Rust, spalling, salt damage on structures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870448" y="2816352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934456" y="2852928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None / Minor / Severe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365760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29768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Vegetation Growth</a:t>
                </a:r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118104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3182112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Plants growing on the bridge structure</a:t>
                </a: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5870448" y="3218688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934456" y="3255264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No / Minor / Severe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65760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429768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Drainage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3118104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3182112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Water runoff channels on bridge deck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5870448" y="3621024"/>
                <a:ext cx="2752344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934456" y="3657600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Good / Blocked / Absent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365760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429768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Overall Condition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3118104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3182112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Holistic structural assessment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5870448" y="4023360"/>
                <a:ext cx="2752344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934456" y="4059936"/>
                <a:ext cx="2624328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00" b="0" i="0">
                    <a:solidFill>
                      <a:srgbClr val="333333"/>
                    </a:solidFill>
                    <a:latin typeface="Calibri"/>
                  </a:rPr>
                  <a:t>Good / Fair / Poor / Critical</a:t>
                </a:r>
              </a:p>
            </p:txBody>
          </p:sp>
        </p:grpSp>
        <p:sp>
          <p:nvSpPr>
            <p:cNvPr id="26" name="TextBox 25"/>
            <p:cNvSpPr txBox="1"/>
            <p:nvPr/>
          </p:nvSpPr>
          <p:spPr>
            <a:xfrm>
              <a:off x="3868674" y="2243950"/>
              <a:ext cx="169773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33333"/>
                  </a:solidFill>
                  <a:latin typeface="Calibri"/>
                </a:rPr>
                <a:t>Good / Fair / Poor / Failed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SURVEY WORKFLOW - DRAINAGE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Culverts, shelvets, causeways, drifts, and grids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904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9768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Fields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58912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Common Issues to 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Culverts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4904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8912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Class (pipe/box), material, serviceability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4048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8056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Blockage, siltation, cracked walls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Shelvets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4904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48912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Type (armco/masonry/concrete), condition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4048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8056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Cracking, siltation, displacement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Piped Causeways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4904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48912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Pipe material, pipe diameter, serviceability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4048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8056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Blocked pipes, scour at headwalls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Drifts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4904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48912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Surface material, passability, condition, width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4048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68056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Slab erosion, flood overflow marks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Grids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4904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48912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Material, operational status, condition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4048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68056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Broken bars, cleanout pit 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11296"/>
            <a:ext cx="11457432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3566160"/>
            <a:ext cx="11128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D2B5E"/>
                </a:solidFill>
                <a:latin typeface="Calibri"/>
              </a:rPr>
              <a:t>TIP: Always capture GPS coordinates precisely at the drainage structure opening - not at the road centreline. This ensures accurate map placement on the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GPS COORDINATE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Capturing accurate location data in the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566928" cy="7315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" y="1207008"/>
            <a:ext cx="10844784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252728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  <a:latin typeface="Calibri"/>
              </a:rPr>
              <a:t>App Warms Up GPS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581912"/>
            <a:ext cx="10588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The app starts warming up the GPS as soon as it launches - no action needed from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66544"/>
            <a:ext cx="566928" cy="7315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066544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" y="2066544"/>
            <a:ext cx="10844784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2112264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  <a:latin typeface="Calibri"/>
              </a:rPr>
              <a:t>Open the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441448"/>
            <a:ext cx="10588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Navigate to New Survey and open the form for your asset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26080"/>
            <a:ext cx="566928" cy="7315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" y="2926080"/>
            <a:ext cx="10844784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8992" y="2971800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  <a:latin typeface="Calibri"/>
              </a:rPr>
              <a:t>Tap 'Capture GPS'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300984"/>
            <a:ext cx="10588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The app shows real-time GPS accuracy in metres on screen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85616"/>
            <a:ext cx="566928" cy="7315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785616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" y="3785616"/>
            <a:ext cx="10844784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3831336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  <a:latin typeface="Calibri"/>
              </a:rPr>
              <a:t>Wait for 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160520"/>
            <a:ext cx="10588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Stand still in an open area. Wait until accuracy is 3 metres or less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45152"/>
            <a:ext cx="566928" cy="73152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645152"/>
            <a:ext cx="566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" y="4645152"/>
            <a:ext cx="10844784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" y="469087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E"/>
                </a:solidFill>
                <a:latin typeface="Calibri"/>
              </a:rPr>
              <a:t>Coordinates Lock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5020056"/>
            <a:ext cx="10588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Latitude &amp; Longitude auto-populated. Green checkmark confirms successful 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OFFLINE MODE &amp; DRAFT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Working in areas without internet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2CC009-EE05-B809-D758-B5BBE4297AC1}"/>
              </a:ext>
            </a:extLst>
          </p:cNvPr>
          <p:cNvGrpSpPr/>
          <p:nvPr/>
        </p:nvGrpSpPr>
        <p:grpSpPr>
          <a:xfrm>
            <a:off x="78770" y="1130991"/>
            <a:ext cx="4735701" cy="2394414"/>
            <a:chOff x="365760" y="1207008"/>
            <a:chExt cx="4219956" cy="1612868"/>
          </a:xfrm>
        </p:grpSpPr>
        <p:sp>
          <p:nvSpPr>
            <p:cNvPr id="9" name="Rectangle 8"/>
            <p:cNvSpPr/>
            <p:nvPr/>
          </p:nvSpPr>
          <p:spPr>
            <a:xfrm>
              <a:off x="365760" y="1207008"/>
              <a:ext cx="4128516" cy="475488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1298448"/>
              <a:ext cx="4128516" cy="384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OFFLINE FEATURES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1755648"/>
              <a:ext cx="4128516" cy="10642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sz="1600" dirty="0">
                  <a:solidFill>
                    <a:srgbClr val="333333"/>
                  </a:solidFill>
                  <a:latin typeface="Calibri"/>
                </a:rPr>
                <a:t>  ▶  All data stored on device - no internet needed</a:t>
              </a:r>
            </a:p>
            <a:p>
              <a:pPr>
                <a:spcBef>
                  <a:spcPts val="500"/>
                </a:spcBef>
              </a:pPr>
              <a:r>
                <a:rPr sz="1600" dirty="0">
                  <a:solidFill>
                    <a:srgbClr val="333333"/>
                  </a:solidFill>
                  <a:latin typeface="Calibri"/>
                </a:rPr>
                <a:t>  ▶  Auto-save every 400ms while filling in form</a:t>
              </a:r>
            </a:p>
            <a:p>
              <a:pPr>
                <a:spcBef>
                  <a:spcPts val="500"/>
                </a:spcBef>
              </a:pPr>
              <a:r>
                <a:rPr sz="1600" dirty="0">
                  <a:solidFill>
                    <a:srgbClr val="333333"/>
                  </a:solidFill>
                  <a:latin typeface="Calibri"/>
                </a:rPr>
                <a:t>  ▶  Crash recovery banner on relaunch</a:t>
              </a:r>
            </a:p>
            <a:p>
              <a:pPr>
                <a:spcBef>
                  <a:spcPts val="500"/>
                </a:spcBef>
              </a:pPr>
              <a:r>
                <a:rPr sz="1600" dirty="0">
                  <a:solidFill>
                    <a:srgbClr val="333333"/>
                  </a:solidFill>
                  <a:latin typeface="Calibri"/>
                </a:rPr>
                <a:t>  ▶  GPS works independently of internet</a:t>
              </a:r>
            </a:p>
            <a:p>
              <a:pPr>
                <a:spcBef>
                  <a:spcPts val="500"/>
                </a:spcBef>
              </a:pPr>
              <a:r>
                <a:rPr sz="1600" dirty="0">
                  <a:solidFill>
                    <a:srgbClr val="333333"/>
                  </a:solidFill>
                  <a:latin typeface="Calibri"/>
                </a:rPr>
                <a:t>  ▶  Works in remote rural areas without SIM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732020" y="1773936"/>
            <a:ext cx="195453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F91D3CF-3D5D-447A-8361-82B9A4F59357}"/>
              </a:ext>
            </a:extLst>
          </p:cNvPr>
          <p:cNvGrpSpPr/>
          <p:nvPr/>
        </p:nvGrpSpPr>
        <p:grpSpPr>
          <a:xfrm>
            <a:off x="4777431" y="1094970"/>
            <a:ext cx="7098419" cy="1681884"/>
            <a:chOff x="4677156" y="1207008"/>
            <a:chExt cx="4128516" cy="2139696"/>
          </a:xfrm>
        </p:grpSpPr>
        <p:sp>
          <p:nvSpPr>
            <p:cNvPr id="12" name="Rectangle 11"/>
            <p:cNvSpPr/>
            <p:nvPr/>
          </p:nvSpPr>
          <p:spPr>
            <a:xfrm>
              <a:off x="4677156" y="1207008"/>
              <a:ext cx="4128516" cy="475488"/>
            </a:xfrm>
            <a:prstGeom prst="rect">
              <a:avLst/>
            </a:prstGeom>
            <a:solidFill>
              <a:srgbClr val="0066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976082" y="1254287"/>
              <a:ext cx="3552316" cy="3637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QUEUE STATUS TYPES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77156" y="1737360"/>
              <a:ext cx="2064258" cy="402336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741414" y="1737360"/>
              <a:ext cx="2064258" cy="402336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96278" y="1773936"/>
              <a:ext cx="195453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Calibri"/>
                </a:rPr>
                <a:t>Meaning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77156" y="2139696"/>
              <a:ext cx="2064258" cy="402336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41164" y="2176272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333333"/>
                  </a:solidFill>
                  <a:latin typeface="Calibri"/>
                </a:rPr>
                <a:t>Draft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741414" y="2139696"/>
              <a:ext cx="2064258" cy="402336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05422" y="2176272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333333"/>
                  </a:solidFill>
                  <a:latin typeface="Calibri"/>
                </a:rPr>
                <a:t>Saved locally - can still be edited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677156" y="2542032"/>
              <a:ext cx="2064258" cy="402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41164" y="2578608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333333"/>
                  </a:solidFill>
                  <a:latin typeface="Calibri"/>
                </a:rPr>
                <a:t>Queued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741414" y="2542032"/>
              <a:ext cx="2064258" cy="4023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05422" y="2578608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333333"/>
                  </a:solidFill>
                  <a:latin typeface="Calibri"/>
                </a:rPr>
                <a:t>Ready for upload - awaiting connection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77156" y="2944368"/>
              <a:ext cx="2064258" cy="402336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741164" y="2980944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 dirty="0">
                  <a:solidFill>
                    <a:srgbClr val="333333"/>
                  </a:solidFill>
                  <a:latin typeface="Calibri"/>
                </a:rPr>
                <a:t>Synced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741414" y="2944368"/>
              <a:ext cx="2064258" cy="402336"/>
            </a:xfrm>
            <a:prstGeom prst="rect">
              <a:avLst/>
            </a:prstGeom>
            <a:solidFill>
              <a:srgbClr val="E8F5E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805422" y="2980944"/>
              <a:ext cx="1936242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0" i="0">
                  <a:solidFill>
                    <a:srgbClr val="333333"/>
                  </a:solidFill>
                  <a:latin typeface="Calibri"/>
                </a:rPr>
                <a:t>Successfully uploaded to server</a:t>
              </a:r>
            </a:p>
          </p:txBody>
        </p:sp>
      </p:grpSp>
      <p:pic>
        <p:nvPicPr>
          <p:cNvPr id="30" name="Picture 29" descr="mobile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431" y="2862213"/>
            <a:ext cx="7135087" cy="3260543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067486"/>
            <a:ext cx="12188952" cy="41561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0703" y="6095270"/>
            <a:ext cx="113110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8B4513"/>
                </a:solidFill>
                <a:latin typeface="Calibri"/>
              </a:rPr>
              <a:t>WARNING: Do NOT close the app during an active sync. Wait for all records to show a green checkmark before exiting the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SYNCHRONISATION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Uploading field data to the central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CONNECT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20700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94560" y="131673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Ensure your device has WiFi or mobile data (4G/3G)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3852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93852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93852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204825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Navigate to the Queue tab in the mobile app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004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67004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94560" y="277977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Check all your surveys are in 'Queued' status (not Draft)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0156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40156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SYNC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40156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351129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Tap the SYNC ALL button and wait for the progress indicator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3308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13308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CONFIRM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13308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424281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Each record shows a green checkmark when successfully uploaded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64608"/>
            <a:ext cx="1691640" cy="694944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864608"/>
            <a:ext cx="1691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864608"/>
            <a:ext cx="9720072" cy="6949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94560" y="4974336"/>
            <a:ext cx="95371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On the web dashboard, click Refresh Data to see new records on the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WEB DASHBOARD -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The administrator's command centre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07008"/>
            <a:ext cx="114574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solidFill>
                  <a:srgbClr val="333333"/>
                </a:solidFill>
                <a:latin typeface="Calibri"/>
              </a:rPr>
              <a:t>Accessed from any web browser. No installation required.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B31E90-2505-EC0E-DA42-7DBC101D9B84}"/>
              </a:ext>
            </a:extLst>
          </p:cNvPr>
          <p:cNvGrpSpPr/>
          <p:nvPr/>
        </p:nvGrpSpPr>
        <p:grpSpPr>
          <a:xfrm>
            <a:off x="18566" y="1980519"/>
            <a:ext cx="4592764" cy="3916055"/>
            <a:chOff x="274320" y="1572768"/>
            <a:chExt cx="6793992" cy="442569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A4FB999-BA1E-C98E-64C8-FD25796BAB09}"/>
                </a:ext>
              </a:extLst>
            </p:cNvPr>
            <p:cNvGrpSpPr/>
            <p:nvPr/>
          </p:nvGrpSpPr>
          <p:grpSpPr>
            <a:xfrm>
              <a:off x="274320" y="1572768"/>
              <a:ext cx="6793992" cy="740664"/>
              <a:chOff x="274320" y="1572768"/>
              <a:chExt cx="6793992" cy="740664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365760" y="1572768"/>
                <a:ext cx="2103120" cy="603504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74320" y="1709928"/>
                <a:ext cx="2103120" cy="60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Calibri"/>
                  </a:rPr>
                  <a:t>HEADER BAR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514600" y="1572768"/>
                <a:ext cx="4553712" cy="60350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06040" y="1664208"/>
                <a:ext cx="4370832" cy="47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0" i="0" dirty="0">
                    <a:solidFill>
                      <a:srgbClr val="333333"/>
                    </a:solidFill>
                    <a:latin typeface="Calibri"/>
                  </a:rPr>
                  <a:t>ZINGSA/Ministry branding, data source label, last sync time, Refresh Data button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F9E0809-84F9-B48A-CABC-1D03FAA231C0}"/>
                </a:ext>
              </a:extLst>
            </p:cNvPr>
            <p:cNvGrpSpPr/>
            <p:nvPr/>
          </p:nvGrpSpPr>
          <p:grpSpPr>
            <a:xfrm>
              <a:off x="274320" y="2304288"/>
              <a:ext cx="6793992" cy="1532750"/>
              <a:chOff x="274320" y="2304288"/>
              <a:chExt cx="6793992" cy="153275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A3DC725-DA94-3924-F1FA-5DA05D99873A}"/>
                  </a:ext>
                </a:extLst>
              </p:cNvPr>
              <p:cNvGrpSpPr/>
              <p:nvPr/>
            </p:nvGrpSpPr>
            <p:grpSpPr>
              <a:xfrm>
                <a:off x="320040" y="2304288"/>
                <a:ext cx="6748272" cy="770947"/>
                <a:chOff x="320040" y="2304288"/>
                <a:chExt cx="6748272" cy="770947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365760" y="2304288"/>
                  <a:ext cx="2103120" cy="603504"/>
                </a:xfrm>
                <a:prstGeom prst="rect">
                  <a:avLst/>
                </a:prstGeom>
                <a:solidFill>
                  <a:srgbClr val="1D4E89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320040" y="2471731"/>
                  <a:ext cx="2103120" cy="6035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1100" b="1" i="0" dirty="0">
                      <a:solidFill>
                        <a:srgbClr val="FFFFFF"/>
                      </a:solidFill>
                      <a:latin typeface="Calibri"/>
                    </a:rPr>
                    <a:t>LEFT NAV RAIL</a:t>
                  </a: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2514600" y="2304288"/>
                  <a:ext cx="4553712" cy="603504"/>
                </a:xfrm>
                <a:prstGeom prst="rect">
                  <a:avLst/>
                </a:prstGeom>
                <a:solidFill>
                  <a:srgbClr val="F5F5F5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2606040" y="2395728"/>
                  <a:ext cx="4370832" cy="4754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1150" b="0" i="0" dirty="0">
                      <a:solidFill>
                        <a:srgbClr val="333333"/>
                      </a:solidFill>
                      <a:latin typeface="Calibri"/>
                    </a:rPr>
                    <a:t>Icon nav: Assets, Dashboard, Highways, Analytics, Survey, Database, Export, Settings</a:t>
                  </a:r>
                </a:p>
              </p:txBody>
            </p:sp>
          </p:grpSp>
          <p:sp>
            <p:nvSpPr>
              <p:cNvPr id="18" name="Rectangle 17"/>
              <p:cNvSpPr/>
              <p:nvPr/>
            </p:nvSpPr>
            <p:spPr>
              <a:xfrm>
                <a:off x="365760" y="3035808"/>
                <a:ext cx="2103120" cy="603504"/>
              </a:xfrm>
              <a:prstGeom prst="rect">
                <a:avLst/>
              </a:prstGeom>
              <a:solidFill>
                <a:srgbClr val="5B21B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74320" y="3233534"/>
                <a:ext cx="2103120" cy="60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i="0" dirty="0">
                    <a:solidFill>
                      <a:srgbClr val="FFFFFF"/>
                    </a:solidFill>
                    <a:latin typeface="Calibri"/>
                  </a:rPr>
                  <a:t>INNER PANEL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2514600" y="3035808"/>
                <a:ext cx="4553712" cy="60350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606040" y="3127248"/>
                <a:ext cx="4370832" cy="47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0" i="0" dirty="0">
                    <a:solidFill>
                      <a:srgbClr val="333333"/>
                    </a:solidFill>
                    <a:latin typeface="Calibri"/>
                  </a:rPr>
                  <a:t>Collapsible left panel - asset list, road filter dropdown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E0D89A2-9AFD-3EC9-6E9F-99A3F498497D}"/>
                </a:ext>
              </a:extLst>
            </p:cNvPr>
            <p:cNvGrpSpPr/>
            <p:nvPr/>
          </p:nvGrpSpPr>
          <p:grpSpPr>
            <a:xfrm>
              <a:off x="274320" y="3767328"/>
              <a:ext cx="6793992" cy="740664"/>
              <a:chOff x="274320" y="3767328"/>
              <a:chExt cx="6793992" cy="740664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365760" y="3767328"/>
                <a:ext cx="2103120" cy="603504"/>
              </a:xfrm>
              <a:prstGeom prst="rect">
                <a:avLst/>
              </a:prstGeom>
              <a:solidFill>
                <a:srgbClr val="00663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74320" y="3904488"/>
                <a:ext cx="2103120" cy="60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i="0" dirty="0">
                    <a:solidFill>
                      <a:srgbClr val="FFFFFF"/>
                    </a:solidFill>
                    <a:latin typeface="Calibri"/>
                  </a:rPr>
                  <a:t>MAP ZONE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514600" y="3767328"/>
                <a:ext cx="4553712" cy="60350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2606040" y="3858768"/>
                <a:ext cx="4370832" cy="47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0" i="0" dirty="0">
                    <a:solidFill>
                      <a:srgbClr val="333333"/>
                    </a:solidFill>
                    <a:latin typeface="Calibri"/>
                  </a:rPr>
                  <a:t>Interactive Leaflet map with </a:t>
                </a:r>
                <a:r>
                  <a:rPr sz="1150" b="0" i="0" dirty="0" err="1">
                    <a:solidFill>
                      <a:srgbClr val="333333"/>
                    </a:solidFill>
                    <a:latin typeface="Calibri"/>
                  </a:rPr>
                  <a:t>coloured</a:t>
                </a:r>
                <a:r>
                  <a:rPr sz="1150" b="0" i="0" dirty="0">
                    <a:solidFill>
                      <a:srgbClr val="333333"/>
                    </a:solidFill>
                    <a:latin typeface="Calibri"/>
                  </a:rPr>
                  <a:t> asset markers - click to select a record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3000484-175C-DA8C-DD63-0E48DEF5F252}"/>
                </a:ext>
              </a:extLst>
            </p:cNvPr>
            <p:cNvGrpSpPr/>
            <p:nvPr/>
          </p:nvGrpSpPr>
          <p:grpSpPr>
            <a:xfrm>
              <a:off x="274320" y="4498848"/>
              <a:ext cx="6793992" cy="740664"/>
              <a:chOff x="274320" y="4498848"/>
              <a:chExt cx="6793992" cy="74066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65760" y="4498848"/>
                <a:ext cx="2103120" cy="603504"/>
              </a:xfrm>
              <a:prstGeom prst="rect">
                <a:avLst/>
              </a:prstGeom>
              <a:solidFill>
                <a:srgbClr val="C8A2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74320" y="4636008"/>
                <a:ext cx="2103120" cy="60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i="0" dirty="0">
                    <a:solidFill>
                      <a:srgbClr val="FFFFFF"/>
                    </a:solidFill>
                    <a:latin typeface="Calibri"/>
                  </a:rPr>
                  <a:t>RIGHT PANEL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514600" y="4498848"/>
                <a:ext cx="4553712" cy="60350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2606040" y="4590288"/>
                <a:ext cx="4370832" cy="47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0" i="0">
                    <a:solidFill>
                      <a:srgbClr val="333333"/>
                    </a:solidFill>
                    <a:latin typeface="Calibri"/>
                  </a:rPr>
                  <a:t>Collapsible right panel - selected record details, charts, condition summary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5DDC27E-D472-F3BE-CD69-2EECC9262447}"/>
                </a:ext>
              </a:extLst>
            </p:cNvPr>
            <p:cNvGrpSpPr/>
            <p:nvPr/>
          </p:nvGrpSpPr>
          <p:grpSpPr>
            <a:xfrm>
              <a:off x="274320" y="5230368"/>
              <a:ext cx="6793992" cy="768096"/>
              <a:chOff x="274320" y="5230368"/>
              <a:chExt cx="6793992" cy="768096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365760" y="5230368"/>
                <a:ext cx="2103120" cy="603504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74320" y="5394960"/>
                <a:ext cx="2103120" cy="603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100" b="1" i="0">
                    <a:solidFill>
                      <a:srgbClr val="FFFFFF"/>
                    </a:solidFill>
                    <a:latin typeface="Calibri"/>
                  </a:rPr>
                  <a:t>FOOTER BAR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514600" y="5230368"/>
                <a:ext cx="4553712" cy="60350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06040" y="5321808"/>
                <a:ext cx="4370832" cy="4754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0" i="0">
                    <a:solidFill>
                      <a:srgbClr val="333333"/>
                    </a:solidFill>
                    <a:latin typeface="Calibri"/>
                  </a:rPr>
                  <a:t>System version, survey year, highway list, total record count</a:t>
                </a:r>
              </a:p>
            </p:txBody>
          </p:sp>
        </p:grpSp>
      </p:grpSp>
      <p:pic>
        <p:nvPicPr>
          <p:cNvPr id="34" name="Picture 33" descr="dashboar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144" y="1980519"/>
            <a:ext cx="7435301" cy="3743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EF86-F7C5-E7BD-0F84-894EDB05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1A8DAF-5AA4-29B7-C9D7-F2F199B20F16}"/>
              </a:ext>
            </a:extLst>
          </p:cNvPr>
          <p:cNvSpPr/>
          <p:nvPr/>
        </p:nvSpPr>
        <p:spPr>
          <a:xfrm>
            <a:off x="109994" y="-9321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16767-DF97-D60B-D455-5699C18F53EE}"/>
              </a:ext>
            </a:extLst>
          </p:cNvPr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>
            <a:extLst>
              <a:ext uri="{FF2B5EF4-FFF2-40B4-BE49-F238E27FC236}">
                <a16:creationId xmlns:a16="http://schemas.microsoft.com/office/drawing/2014/main" id="{9875EBFC-F902-D85A-D863-A874A4DD1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396120-1F9B-2616-F78A-9901402EE65F}"/>
              </a:ext>
            </a:extLst>
          </p:cNvPr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WEB DASHBOARD -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DD333-5971-CF44-2EE6-03D902D44DDE}"/>
              </a:ext>
            </a:extLst>
          </p:cNvPr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Six analysis modules for complete data visibility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53F700-4AD7-280E-659A-1DE72C4420DF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17AAC6-3FD2-1F3D-05AA-C5D727143E83}"/>
              </a:ext>
            </a:extLst>
          </p:cNvPr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73DBDA-EE43-BBF8-534B-7B4C71DE12EA}"/>
              </a:ext>
            </a:extLst>
          </p:cNvPr>
          <p:cNvGrpSpPr/>
          <p:nvPr/>
        </p:nvGrpSpPr>
        <p:grpSpPr>
          <a:xfrm>
            <a:off x="206133" y="1208191"/>
            <a:ext cx="2338904" cy="1641231"/>
            <a:chOff x="365760" y="1207008"/>
            <a:chExt cx="2203704" cy="21305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41D48F-8842-6E63-FFE6-D9718CFC0F2D}"/>
                </a:ext>
              </a:extLst>
            </p:cNvPr>
            <p:cNvSpPr/>
            <p:nvPr/>
          </p:nvSpPr>
          <p:spPr>
            <a:xfrm>
              <a:off x="365760" y="1207008"/>
              <a:ext cx="2203704" cy="502920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143C66-4C53-DDC9-F99E-7C7F3170DCC4}"/>
                </a:ext>
              </a:extLst>
            </p:cNvPr>
            <p:cNvSpPr txBox="1"/>
            <p:nvPr/>
          </p:nvSpPr>
          <p:spPr>
            <a:xfrm>
              <a:off x="457200" y="128016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DASHBOARD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98C7CE-E82F-72A0-9D87-39CC998F2431}"/>
                </a:ext>
              </a:extLst>
            </p:cNvPr>
            <p:cNvSpPr/>
            <p:nvPr/>
          </p:nvSpPr>
          <p:spPr>
            <a:xfrm>
              <a:off x="365760" y="1737360"/>
              <a:ext cx="2203704" cy="97191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51D592-CAD0-3D26-CE95-D3CBBF66F1A9}"/>
                </a:ext>
              </a:extLst>
            </p:cNvPr>
            <p:cNvSpPr txBox="1"/>
            <p:nvPr/>
          </p:nvSpPr>
          <p:spPr>
            <a:xfrm>
              <a:off x="493696" y="1709929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33333"/>
                  </a:solidFill>
                  <a:latin typeface="Calibri"/>
                </a:rPr>
                <a:t>High-level KPI overview
Total records by type
Condition charts
Highway coverage stats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BA1A77-CA39-27E2-6F1F-D323F3B719EF}"/>
              </a:ext>
            </a:extLst>
          </p:cNvPr>
          <p:cNvGrpSpPr/>
          <p:nvPr/>
        </p:nvGrpSpPr>
        <p:grpSpPr>
          <a:xfrm>
            <a:off x="3285778" y="1156132"/>
            <a:ext cx="2104296" cy="1776591"/>
            <a:chOff x="2752344" y="1207008"/>
            <a:chExt cx="2203704" cy="22219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2EC827-25A3-1066-E635-FF515F9C076D}"/>
                </a:ext>
              </a:extLst>
            </p:cNvPr>
            <p:cNvSpPr/>
            <p:nvPr/>
          </p:nvSpPr>
          <p:spPr>
            <a:xfrm>
              <a:off x="2752344" y="1207008"/>
              <a:ext cx="2203704" cy="502920"/>
            </a:xfrm>
            <a:prstGeom prst="rect">
              <a:avLst/>
            </a:prstGeom>
            <a:solidFill>
              <a:srgbClr val="0066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69CC98-96EF-5D25-C6E8-329152BBFBDD}"/>
                </a:ext>
              </a:extLst>
            </p:cNvPr>
            <p:cNvSpPr txBox="1"/>
            <p:nvPr/>
          </p:nvSpPr>
          <p:spPr>
            <a:xfrm>
              <a:off x="2843784" y="128016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HIGHWAYS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54BDE0-F8AD-DAAA-B0E3-A208DCB87741}"/>
                </a:ext>
              </a:extLst>
            </p:cNvPr>
            <p:cNvSpPr/>
            <p:nvPr/>
          </p:nvSpPr>
          <p:spPr>
            <a:xfrm>
              <a:off x="2752344" y="1737360"/>
              <a:ext cx="2203704" cy="97191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00F66D-2951-6595-3A6F-329FC0CBAAB3}"/>
                </a:ext>
              </a:extLst>
            </p:cNvPr>
            <p:cNvSpPr txBox="1"/>
            <p:nvPr/>
          </p:nvSpPr>
          <p:spPr>
            <a:xfrm>
              <a:off x="2843784" y="1801368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33333"/>
                  </a:solidFill>
                  <a:latin typeface="Calibri"/>
                </a:rPr>
                <a:t>Per-highway breakdown
A1-A5 asset inventory
Condition ratings
Survey completion status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7DF784-62AF-3EAC-2408-597E49AA20FC}"/>
              </a:ext>
            </a:extLst>
          </p:cNvPr>
          <p:cNvGrpSpPr/>
          <p:nvPr/>
        </p:nvGrpSpPr>
        <p:grpSpPr>
          <a:xfrm>
            <a:off x="6400800" y="1136572"/>
            <a:ext cx="2011680" cy="1776591"/>
            <a:chOff x="5138928" y="1207008"/>
            <a:chExt cx="2203704" cy="222199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84C52E6-9480-1632-4952-C81D62A5D84B}"/>
                </a:ext>
              </a:extLst>
            </p:cNvPr>
            <p:cNvSpPr/>
            <p:nvPr/>
          </p:nvSpPr>
          <p:spPr>
            <a:xfrm>
              <a:off x="5138928" y="1207008"/>
              <a:ext cx="2203704" cy="50292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BF6D51-CF60-5081-CC38-DC28D78D5C0E}"/>
                </a:ext>
              </a:extLst>
            </p:cNvPr>
            <p:cNvSpPr txBox="1"/>
            <p:nvPr/>
          </p:nvSpPr>
          <p:spPr>
            <a:xfrm>
              <a:off x="5230368" y="128016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ANALYTICS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8A0733-F9E3-D98B-8A76-F399550B3E56}"/>
                </a:ext>
              </a:extLst>
            </p:cNvPr>
            <p:cNvSpPr/>
            <p:nvPr/>
          </p:nvSpPr>
          <p:spPr>
            <a:xfrm>
              <a:off x="5138928" y="1737360"/>
              <a:ext cx="2203704" cy="97191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9ED79C-D0D7-84B6-E624-5C8EE9D15FA0}"/>
                </a:ext>
              </a:extLst>
            </p:cNvPr>
            <p:cNvSpPr txBox="1"/>
            <p:nvPr/>
          </p:nvSpPr>
          <p:spPr>
            <a:xfrm>
              <a:off x="5230368" y="1801368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33333"/>
                  </a:solidFill>
                  <a:latin typeface="Calibri"/>
                </a:rPr>
                <a:t>Advanced charts &amp; graphs
Defect frequency
Riding quality
Surveyor activity timeline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6F8DC2F-3A03-2119-B6BD-CC1B6E2FD82A}"/>
              </a:ext>
            </a:extLst>
          </p:cNvPr>
          <p:cNvGrpSpPr/>
          <p:nvPr/>
        </p:nvGrpSpPr>
        <p:grpSpPr>
          <a:xfrm>
            <a:off x="9552663" y="4739833"/>
            <a:ext cx="2203704" cy="2145792"/>
            <a:chOff x="365760" y="3538728"/>
            <a:chExt cx="2203704" cy="222199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75A0A6-D55E-3624-EA57-81B48CFA1BCA}"/>
                </a:ext>
              </a:extLst>
            </p:cNvPr>
            <p:cNvSpPr/>
            <p:nvPr/>
          </p:nvSpPr>
          <p:spPr>
            <a:xfrm>
              <a:off x="365760" y="3538728"/>
              <a:ext cx="2203704" cy="5029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9B222C-7A6F-7F9C-1463-7CAAA9914C3D}"/>
                </a:ext>
              </a:extLst>
            </p:cNvPr>
            <p:cNvSpPr txBox="1"/>
            <p:nvPr/>
          </p:nvSpPr>
          <p:spPr>
            <a:xfrm>
              <a:off x="457200" y="361188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>
                  <a:solidFill>
                    <a:srgbClr val="FFFFFF"/>
                  </a:solidFill>
                  <a:latin typeface="Calibri"/>
                </a:rPr>
                <a:t>SURVEY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D6B61C-F914-3933-ED35-1F59095033DC}"/>
                </a:ext>
              </a:extLst>
            </p:cNvPr>
            <p:cNvSpPr/>
            <p:nvPr/>
          </p:nvSpPr>
          <p:spPr>
            <a:xfrm>
              <a:off x="365760" y="4069080"/>
              <a:ext cx="2203704" cy="1006433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DDE07D-EC27-BAD3-739E-24E31014D433}"/>
                </a:ext>
              </a:extLst>
            </p:cNvPr>
            <p:cNvSpPr txBox="1"/>
            <p:nvPr/>
          </p:nvSpPr>
          <p:spPr>
            <a:xfrm>
              <a:off x="457200" y="4133088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  <a:latin typeface="Calibri"/>
                </a:rPr>
                <a:t>Tabular record view
Filter by type, road, date
Inspect submissions
Surveyor performance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5201884-0E66-0192-0CE9-E9A81E8ACA37}"/>
              </a:ext>
            </a:extLst>
          </p:cNvPr>
          <p:cNvGrpSpPr/>
          <p:nvPr/>
        </p:nvGrpSpPr>
        <p:grpSpPr>
          <a:xfrm>
            <a:off x="9559771" y="1124137"/>
            <a:ext cx="2203704" cy="2203704"/>
            <a:chOff x="2752344" y="3538728"/>
            <a:chExt cx="2203704" cy="220370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CFC6F2-0378-28F0-E5D6-8EE97D062F2B}"/>
                </a:ext>
              </a:extLst>
            </p:cNvPr>
            <p:cNvSpPr/>
            <p:nvPr/>
          </p:nvSpPr>
          <p:spPr>
            <a:xfrm>
              <a:off x="2752344" y="3538728"/>
              <a:ext cx="2203704" cy="50292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BE89AF-5244-76F7-C6E0-C15D93B0639F}"/>
                </a:ext>
              </a:extLst>
            </p:cNvPr>
            <p:cNvSpPr txBox="1"/>
            <p:nvPr/>
          </p:nvSpPr>
          <p:spPr>
            <a:xfrm>
              <a:off x="2843784" y="361188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 dirty="0">
                  <a:solidFill>
                    <a:srgbClr val="FFFFFF"/>
                  </a:solidFill>
                  <a:latin typeface="Calibri"/>
                </a:rPr>
                <a:t>DATABASE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A4F19F-F05B-366B-4B61-1760415C7271}"/>
                </a:ext>
              </a:extLst>
            </p:cNvPr>
            <p:cNvSpPr/>
            <p:nvPr/>
          </p:nvSpPr>
          <p:spPr>
            <a:xfrm>
              <a:off x="2752344" y="4069080"/>
              <a:ext cx="2203704" cy="106335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1E54EB-5A68-DE46-1F3F-B54202081E62}"/>
                </a:ext>
              </a:extLst>
            </p:cNvPr>
            <p:cNvSpPr txBox="1"/>
            <p:nvPr/>
          </p:nvSpPr>
          <p:spPr>
            <a:xfrm>
              <a:off x="2843784" y="4114800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33333"/>
                  </a:solidFill>
                  <a:latin typeface="Calibri"/>
                </a:rPr>
                <a:t>Raw data table
Full field detail view
Search &amp; filter tools
Drill-down per record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250A07-62AA-CBC6-3AFD-5478FF90FF99}"/>
              </a:ext>
            </a:extLst>
          </p:cNvPr>
          <p:cNvGrpSpPr/>
          <p:nvPr/>
        </p:nvGrpSpPr>
        <p:grpSpPr>
          <a:xfrm>
            <a:off x="9540489" y="2868951"/>
            <a:ext cx="2203704" cy="2221992"/>
            <a:chOff x="5138928" y="3538728"/>
            <a:chExt cx="2203704" cy="222199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E78E63C-90AE-AE21-FFFD-B6BEAFE9BF2B}"/>
                </a:ext>
              </a:extLst>
            </p:cNvPr>
            <p:cNvSpPr/>
            <p:nvPr/>
          </p:nvSpPr>
          <p:spPr>
            <a:xfrm>
              <a:off x="5138928" y="3538728"/>
              <a:ext cx="2203704" cy="502920"/>
            </a:xfrm>
            <a:prstGeom prst="rect">
              <a:avLst/>
            </a:prstGeom>
            <a:solidFill>
              <a:srgbClr val="C8A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359EC4-77BC-D30D-F794-3E0BD509BAB1}"/>
                </a:ext>
              </a:extLst>
            </p:cNvPr>
            <p:cNvSpPr txBox="1"/>
            <p:nvPr/>
          </p:nvSpPr>
          <p:spPr>
            <a:xfrm>
              <a:off x="5230368" y="3611880"/>
              <a:ext cx="2020824" cy="429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1" i="0" dirty="0">
                  <a:solidFill>
                    <a:srgbClr val="FFFFFF"/>
                  </a:solidFill>
                  <a:latin typeface="Calibri"/>
                </a:rPr>
                <a:t>EXPORT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83D36B1-6F0E-D0B3-4477-F7E06D6B2F6A}"/>
                </a:ext>
              </a:extLst>
            </p:cNvPr>
            <p:cNvSpPr/>
            <p:nvPr/>
          </p:nvSpPr>
          <p:spPr>
            <a:xfrm>
              <a:off x="5138928" y="4069080"/>
              <a:ext cx="2203704" cy="106335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E8115C-A336-50F4-8AA9-328C1DDC0F7F}"/>
                </a:ext>
              </a:extLst>
            </p:cNvPr>
            <p:cNvSpPr txBox="1"/>
            <p:nvPr/>
          </p:nvSpPr>
          <p:spPr>
            <a:xfrm>
              <a:off x="5230368" y="4133088"/>
              <a:ext cx="2020824" cy="1627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33333"/>
                  </a:solidFill>
                  <a:latin typeface="Calibri"/>
                </a:rPr>
                <a:t>Download as CSV (Excel)
JSON data export
Formatted PDF report
For briefings</a:t>
              </a:r>
            </a:p>
          </p:txBody>
        </p:sp>
      </p:grpSp>
      <p:pic>
        <p:nvPicPr>
          <p:cNvPr id="33" name="Picture 32" descr="dashboard_analytics.png">
            <a:extLst>
              <a:ext uri="{FF2B5EF4-FFF2-40B4-BE49-F238E27FC236}">
                <a16:creationId xmlns:a16="http://schemas.microsoft.com/office/drawing/2014/main" id="{F02A1D16-4C12-8AEF-539B-EF0512D58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80" y="2440618"/>
            <a:ext cx="8255293" cy="39212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1792AE2-AF9C-A6C3-A9D2-7398C00D2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40" y="2429294"/>
            <a:ext cx="8360434" cy="406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8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643" y="-9144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DASHBOARD - DATA 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Understanding the two-phase data loading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2666256-A9DA-CD47-7546-92FF41CA4A84}"/>
              </a:ext>
            </a:extLst>
          </p:cNvPr>
          <p:cNvGrpSpPr/>
          <p:nvPr/>
        </p:nvGrpSpPr>
        <p:grpSpPr>
          <a:xfrm>
            <a:off x="6433" y="1106425"/>
            <a:ext cx="3085833" cy="1637796"/>
            <a:chOff x="365760" y="1207008"/>
            <a:chExt cx="4219957" cy="1920240"/>
          </a:xfrm>
        </p:grpSpPr>
        <p:sp>
          <p:nvSpPr>
            <p:cNvPr id="9" name="Rectangle 8"/>
            <p:cNvSpPr/>
            <p:nvPr/>
          </p:nvSpPr>
          <p:spPr>
            <a:xfrm>
              <a:off x="365760" y="1207008"/>
              <a:ext cx="4128516" cy="475488"/>
            </a:xfrm>
            <a:prstGeom prst="rect">
              <a:avLst/>
            </a:prstGeom>
            <a:solidFill>
              <a:srgbClr val="0D2B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199" y="1298448"/>
              <a:ext cx="4128518" cy="384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PHASE 1 - Instant Load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5760" y="1755648"/>
              <a:ext cx="4128516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Locally cached data displayed immediately</a:t>
              </a:r>
            </a:p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No spinner - dashboard usable instantly</a:t>
              </a:r>
            </a:p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Source label shows: Local Cache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9D9026-C593-0268-DB8C-9680F662EC3B}"/>
              </a:ext>
            </a:extLst>
          </p:cNvPr>
          <p:cNvGrpSpPr/>
          <p:nvPr/>
        </p:nvGrpSpPr>
        <p:grpSpPr>
          <a:xfrm>
            <a:off x="2994745" y="1106424"/>
            <a:ext cx="3393640" cy="1483180"/>
            <a:chOff x="4677156" y="1217648"/>
            <a:chExt cx="4219956" cy="1725719"/>
          </a:xfrm>
        </p:grpSpPr>
        <p:sp>
          <p:nvSpPr>
            <p:cNvPr id="12" name="Rectangle 11"/>
            <p:cNvSpPr/>
            <p:nvPr/>
          </p:nvSpPr>
          <p:spPr>
            <a:xfrm>
              <a:off x="4677156" y="1217648"/>
              <a:ext cx="4128516" cy="475488"/>
            </a:xfrm>
            <a:prstGeom prst="rect">
              <a:avLst/>
            </a:prstGeom>
            <a:solidFill>
              <a:srgbClr val="00663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68596" y="1298448"/>
              <a:ext cx="4128516" cy="3840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PHASE 2 - Server Fetch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77156" y="1755649"/>
              <a:ext cx="4128516" cy="11877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Server data loads in background</a:t>
              </a:r>
            </a:p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Merged with local records (no duplicates)</a:t>
              </a:r>
            </a:p>
            <a:p>
              <a:pPr>
                <a:spcBef>
                  <a:spcPts val="500"/>
                </a:spcBef>
              </a:pPr>
              <a:r>
                <a:rPr sz="1300" dirty="0">
                  <a:solidFill>
                    <a:srgbClr val="333333"/>
                  </a:solidFill>
                  <a:latin typeface="Calibri"/>
                </a:rPr>
                <a:t>  ▶  Source label updates: Server Live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E310E73-AED2-AEF5-6A92-629CD58F21D4}"/>
              </a:ext>
            </a:extLst>
          </p:cNvPr>
          <p:cNvGrpSpPr/>
          <p:nvPr/>
        </p:nvGrpSpPr>
        <p:grpSpPr>
          <a:xfrm>
            <a:off x="6321519" y="1115568"/>
            <a:ext cx="5854790" cy="1991426"/>
            <a:chOff x="365760" y="3355848"/>
            <a:chExt cx="8531352" cy="201168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CB9C0A6-33BB-EBAB-2AC0-C4EB9E2D833E}"/>
                </a:ext>
              </a:extLst>
            </p:cNvPr>
            <p:cNvGrpSpPr/>
            <p:nvPr/>
          </p:nvGrpSpPr>
          <p:grpSpPr>
            <a:xfrm>
              <a:off x="365760" y="3355848"/>
              <a:ext cx="8531352" cy="2011680"/>
              <a:chOff x="365760" y="3355848"/>
              <a:chExt cx="8531352" cy="201168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65760" y="3355848"/>
                <a:ext cx="3903893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269653" y="3355848"/>
                <a:ext cx="4627459" cy="402336"/>
              </a:xfrm>
              <a:prstGeom prst="rect">
                <a:avLst/>
              </a:prstGeom>
              <a:solidFill>
                <a:srgbClr val="0D2B5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365760" y="3758184"/>
                <a:ext cx="3966086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4269653" y="3758184"/>
                <a:ext cx="4627459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65760" y="4160520"/>
                <a:ext cx="4265676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269653" y="4160520"/>
                <a:ext cx="4627459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65760" y="4562856"/>
                <a:ext cx="4265676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4269653" y="4562856"/>
                <a:ext cx="4627459" cy="402336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365760" y="4965192"/>
                <a:ext cx="4265676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4269653" y="4965192"/>
                <a:ext cx="4627459" cy="402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BFB22B9-2E76-885F-5E24-B6C7CD1DCAE1}"/>
                </a:ext>
              </a:extLst>
            </p:cNvPr>
            <p:cNvGrpSpPr/>
            <p:nvPr/>
          </p:nvGrpSpPr>
          <p:grpSpPr>
            <a:xfrm>
              <a:off x="612992" y="3369564"/>
              <a:ext cx="8036888" cy="1956816"/>
              <a:chOff x="420624" y="3392424"/>
              <a:chExt cx="8421624" cy="1956816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20624" y="3392424"/>
                <a:ext cx="3831711" cy="279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Calibri"/>
                  </a:rPr>
                  <a:t>Data Source Label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252335" y="3392424"/>
                <a:ext cx="4589913" cy="279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What It Means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29768" y="3794760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Local Cache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4695444" y="3794760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Loaded from browser local storage - no server contact yet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29769" y="4197096"/>
                <a:ext cx="3725036" cy="277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Server (Cached)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695443" y="4197096"/>
                <a:ext cx="4137660" cy="462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333333"/>
                    </a:solidFill>
                    <a:latin typeface="Calibri"/>
                  </a:rPr>
                  <a:t>Backend's internal cache - not a live </a:t>
                </a:r>
                <a:r>
                  <a:rPr sz="1200" b="0" i="0" dirty="0" err="1">
                    <a:solidFill>
                      <a:srgbClr val="333333"/>
                    </a:solidFill>
                    <a:latin typeface="Calibri"/>
                  </a:rPr>
                  <a:t>KoBoToolbox</a:t>
                </a:r>
                <a:r>
                  <a:rPr sz="1200" b="0" i="0" dirty="0">
                    <a:solidFill>
                      <a:srgbClr val="333333"/>
                    </a:solidFill>
                    <a:latin typeface="Calibri"/>
                  </a:rPr>
                  <a:t> call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29768" y="4599432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Server Live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695444" y="4599432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Fresh data fetched directly from KoBoToolbox API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29768" y="5001768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 dirty="0">
                    <a:solidFill>
                      <a:srgbClr val="333333"/>
                    </a:solidFill>
                    <a:latin typeface="Calibri"/>
                  </a:rPr>
                  <a:t>Offline Cache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695444" y="5001768"/>
                <a:ext cx="4137660" cy="347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i="0">
                    <a:solidFill>
                      <a:srgbClr val="333333"/>
                    </a:solidFill>
                    <a:latin typeface="Calibri"/>
                  </a:rPr>
                  <a:t>Server unreachable - showing last known dataset</a:t>
                </a:r>
              </a:p>
            </p:txBody>
          </p:sp>
        </p:grpSp>
      </p:grpSp>
      <p:pic>
        <p:nvPicPr>
          <p:cNvPr id="35" name="Picture 34" descr="dashboard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4" y="3106994"/>
            <a:ext cx="6291023" cy="33761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Tips for accurate and efficient surveys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5591556" cy="4572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98448"/>
            <a:ext cx="5591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MOBILE APP - FIELD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55915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Launch app before driving - GPS warms up en route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Set your surveyor name in Settings once (pre-fills forms)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Save a Draft before submitting as a local backup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Charge device fully before heading to remote areas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Take photos from 2-3m away to show full asset context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Capture GPS while standing still at the asset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Use the road name dropdown - never type free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207008"/>
            <a:ext cx="5591556" cy="4572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3076" y="1298448"/>
            <a:ext cx="55915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DASHBOARD - ADMIN TIPS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1737360"/>
            <a:ext cx="55915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Click Refresh Data after each field survey session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Use Road Filter to focus on a specific highway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Export CSV after each campaign for Excel archiving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Map loads faster after first visit (cache is built)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Use Analytics to identify high-defect road sections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Check Database module to verify data quality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  ▶  Set OFFLINE_MODE=false in production for live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3152"/>
            <a:ext cx="914400" cy="849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DDCC"/>
                </a:solidFill>
                <a:latin typeface="Calibri"/>
              </a:rPr>
              <a:t>Quick reference for common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4904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9768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4048" y="1207008"/>
            <a:ext cx="3819144" cy="402336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58912" y="1243584"/>
            <a:ext cx="37094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9768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GPS stuck at 'Waiting for signal'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4904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8912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Move to open area; Location must be ON in Android Settings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4048" y="1609344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8056" y="164592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Mobile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App shows 'Offline' on WiFi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4904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48912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Check Server URL in Settings; tap Test Connection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4048" y="2011680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68056" y="204825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Mobile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Sync fails - Network Error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4904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48912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Verify internet; check server is running; retry in 30s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4048" y="2414016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8056" y="245059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Mobile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Lost draft after crash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4904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48912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Open any form - yellow recovery banner - tap Restore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4048" y="2816352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68056" y="2852928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Mobile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Dashboard map is empty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4904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48912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Click Refresh Data; verify backend is running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4048" y="3218688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68056" y="3255264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621024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" y="365760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Data source shows 'Offline Cache'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4904" y="3621024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48912" y="365760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Backend server down - contact ZINGSA ICT support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04048" y="3621024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68056" y="3657600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Dashboard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023360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9768" y="405993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Duplicate records on map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84904" y="4023360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48912" y="405993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Click Refresh Data - system auto-deduplicates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4048" y="4023360"/>
            <a:ext cx="3819144" cy="40233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8056" y="4059936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Dashboard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425696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" y="446227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Export not downloading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84904" y="4425696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48912" y="446227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Check browser download permissions; disable popup blocker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4048" y="4425696"/>
            <a:ext cx="3819144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68056" y="4462272"/>
            <a:ext cx="3691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137160"/>
            <a:ext cx="1463040" cy="13585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9902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86968"/>
            <a:ext cx="9902952" cy="4572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2471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mobile app works FULLY OFFLINE - no internet needed to collect data in the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Always warm up the GPS first and capture coordinates while standing still at the asset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4203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54203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8775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Save a Draft before submitting - your data is always recoverable if the app crashes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7355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27355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927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Sync your queue when you have WiFi or 4G - batch upload is fast and reliable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0507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00507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web dashboard shows ALL submitted records on an interactive map - click any marker for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73659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8231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Analytics and Export modules to generate reports for management briefings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68112"/>
            <a:ext cx="457200" cy="566928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468112"/>
            <a:ext cx="457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5E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13832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Contact ZINGSA ICT support if the server is unreachable - your local data is always safe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" y="6510528"/>
            <a:ext cx="1182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Zimbabwe National Geospatial and Space Agency (ZINGSA)  |  Roads Condition Survey System  |  v1.0  |  July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C8A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INGSA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228600"/>
            <a:ext cx="2011680" cy="1867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31720"/>
            <a:ext cx="1127455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FFEE"/>
                </a:solidFill>
                <a:latin typeface="Calibri"/>
              </a:rPr>
              <a:t>Thank you for attending this training session.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FFEE"/>
                </a:solidFill>
                <a:latin typeface="Calibri"/>
              </a:rPr>
              <a:t>For technical support, contact the ZINGSA ICT Department.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2B5E"/>
                </a:solidFill>
                <a:latin typeface="Calibri"/>
              </a:rPr>
              <a:t>ZIMBABWE NATIONAL GEOSPATIAL AND SPACE AGENCY (ZINGSA)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2B5E"/>
                </a:solidFill>
                <a:latin typeface="Calibri"/>
              </a:rPr>
              <a:t>In Partnership with: Ministry of Transport &amp; Infrastructural Development - Department of Roads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253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D2B5E"/>
                </a:solidFill>
                <a:latin typeface="Calibri"/>
              </a:rPr>
              <a:t>Road Condition Survey System  |  Field Telemetry System v2.0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36208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E"/>
                </a:solidFill>
                <a:latin typeface="Calibri"/>
              </a:rPr>
              <a:t>publicrelations@zingsa.ac.zw  |  www.zingsa.ac.zw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2424</Words>
  <Application>Microsoft Office PowerPoint</Application>
  <PresentationFormat>Custom</PresentationFormat>
  <Paragraphs>358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Ndebele</cp:lastModifiedBy>
  <cp:revision>5</cp:revision>
  <dcterms:created xsi:type="dcterms:W3CDTF">2013-01-27T09:14:16Z</dcterms:created>
  <dcterms:modified xsi:type="dcterms:W3CDTF">2026-07-14T09:31:41Z</dcterms:modified>
  <cp:category/>
</cp:coreProperties>
</file>